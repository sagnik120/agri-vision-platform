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F2A24"/>
                </a:solidFill>
                <a:latin typeface="Calibri"/>
              </a:rPr>
              <a:t>We found our bottleneck and fixed it (accuracy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9C4B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Crop e2e</c:v>
                </c:pt>
                <c:pt idx="1">
                  <c:v>Livestock e2e</c:v>
                </c:pt>
                <c:pt idx="2">
                  <c:v>Livestock vs off-the-shelf AI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77.3</c:v>
                </c:pt>
                <c:pt idx="1">
                  <c:v>83.6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5-4C44-84C5-DF4DFB3E9C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2F5D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Crop e2e</c:v>
                </c:pt>
                <c:pt idx="1">
                  <c:v>Livestock e2e</c:v>
                </c:pt>
                <c:pt idx="2">
                  <c:v>Livestock vs off-the-shelf AI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94.5</c:v>
                </c:pt>
                <c:pt idx="1">
                  <c:v>89.5</c:v>
                </c:pt>
                <c:pt idx="2">
                  <c:v>89.5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B5-4C44-84C5-DF4DFB3E9C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B6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37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one photo was enough?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one photo was enough?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 vs generic chatbots and single-crop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Enterprise-grade stack, built to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Measured, not claimed. Honest limits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 history private per farm; admin sees aggregated data; demo OTP off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cloud architecture: prototype today vs production with MHTECHIN.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6583680" cy="6583680"/>
          </a:xfrm>
          <a:prstGeom prst="ellipse">
            <a:avLst/>
          </a:prstGeom>
          <a:solidFill>
            <a:srgbClr val="2F5D3A">
              <a:alpha val="45000"/>
            </a:srgbClr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3291840"/>
            <a:ext cx="4206240" cy="4206240"/>
          </a:xfrm>
          <a:prstGeom prst="ellipse">
            <a:avLst/>
          </a:prstGeom>
          <a:solidFill>
            <a:srgbClr val="C8963E">
              <a:alpha val="20000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41732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farm. One app.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Specialist-grade crop &amp; livestock health: offline, in Hindi, grounded by AI.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53492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 ·  Generative AI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Binary Brains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6BACC8-B2A6-1FB4-516D-46159B9F2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64" y="485686"/>
            <a:ext cx="837276" cy="8372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health advice is fragmented, online-only and English-first.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91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“Her tomatoes have spots. Her cow has lumps. The nearest expert is hours away.”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0230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apps and experts for crops and animals.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34256" y="26974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2856" y="288036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502" y="30230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94376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Online-only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562856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apps fail where connectivity is weakest.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19872" y="26974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48472" y="288036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118" y="30230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79992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Unsafe &amp; inaccessible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348472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text-heavy; generic chatbots can invent dosages.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agri-AI rarely leaves the lab.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489204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3152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PROTOTYPE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31520" y="52852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 a laptop  ·  No GPU serving  ·  No scale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5230368"/>
            <a:ext cx="320040" cy="320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709160" y="489204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892040" y="4983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MHTECHIN: CLOUD, DEPLOYMENT, ENTERPRISE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892040" y="52852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cloud  ·  Secure data  ·  Millions of users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503920" y="4892040"/>
            <a:ext cx="3136392" cy="1005840"/>
          </a:xfrm>
          <a:prstGeom prst="roundRect">
            <a:avLst>
              <a:gd name="adj" fmla="val 9091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686800" y="4892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Agri·Vision has already crossed the hardest part: working, measured AI.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~86% of Indian farm holdings are small &amp; marginal  ·  2022 lumpy skin outbreak: ~1 lakh+ cattle deaths   [VERIFY + source]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3112E06-C3BA-E32D-D07C-4659BC96B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specialist for every field and every animal.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1899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Snap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leaf, plant or animal; add symptoms if you like.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3017520"/>
            <a:ext cx="201168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49040" y="178308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23360" y="2011680"/>
            <a:ext cx="685800" cy="68580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668" y="218998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0233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Diagnose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Auto-router picks the specialist; fuses photo, words and sensors.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3017520"/>
            <a:ext cx="201168" cy="2743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949440" y="178308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223760" y="2011680"/>
            <a:ext cx="685800" cy="68580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2068" y="218998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2237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Act</a:t>
            </a:r>
            <a:endParaRPr lang="en-US" sz="2000" dirty="0"/>
          </a:p>
        </p:txBody>
      </p:sp>
      <p:sp>
        <p:nvSpPr>
          <p:cNvPr id="24" name="Text 16"/>
          <p:cNvSpPr txBox="1"/>
          <p:nvPr/>
        </p:nvSpPr>
        <p:spPr>
          <a:xfrm>
            <a:off x="722376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steps in Hindi or English, saved to your private farm history.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7223760" y="40690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FEADB"/>
          </a:solidFill>
          <a:ln w="12700">
            <a:solidFill>
              <a:srgbClr val="DFEADB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223760" y="4069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now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10149840" y="1783080"/>
            <a:ext cx="1490472" cy="2743200"/>
          </a:xfrm>
          <a:prstGeom prst="roundRect">
            <a:avLst>
              <a:gd name="adj" fmla="val 6135"/>
            </a:avLst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10149840" y="2240280"/>
            <a:ext cx="1490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5400" dirty="0"/>
          </a:p>
        </p:txBody>
      </p:sp>
      <p:sp>
        <p:nvSpPr>
          <p:cNvPr id="29" name="Text 21"/>
          <p:cNvSpPr txBox="1"/>
          <p:nvPr/>
        </p:nvSpPr>
        <p:spPr>
          <a:xfrm>
            <a:off x="10332720" y="333756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on-device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AUTO-ROUTER → SPECIALIST EXPERTS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51663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76672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325880" y="51663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crops specialist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3377184" y="51663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5784" y="5376672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154424" y="51663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crops specialist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6205728" y="51663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4328" y="5376672"/>
            <a:ext cx="365760" cy="36576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982968" y="51663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Lumpy-skin specialist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9034272" y="51663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872" y="5376672"/>
            <a:ext cx="365760" cy="36576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9811512" y="51663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FMD specialist</a:t>
            </a:r>
            <a:endParaRPr lang="en-US" sz="14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840B8C2-BD74-F4AA-2035-B50D4A3E4C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last mile, not the lab.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543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on-device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852928" y="178308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081528" y="201168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174" y="21543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81528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+ livestock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3081528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157216" y="178308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85816" y="201168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462" y="21543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85816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 voice &amp; text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5385816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advice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16052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53176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GenAI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validated, no dosages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2852928" y="416052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081528" y="438912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4174" y="453176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081528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3081528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alternatives, confidence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5157216" y="4160520"/>
            <a:ext cx="2103120" cy="2148840"/>
          </a:xfrm>
          <a:prstGeom prst="roundRect">
            <a:avLst>
              <a:gd name="adj" fmla="val 4348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385816" y="4389120"/>
            <a:ext cx="548640" cy="54864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8462" y="4531766"/>
            <a:ext cx="263347" cy="26334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85816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Outbreak watch</a:t>
            </a:r>
            <a:endParaRPr lang="en-US" sz="1450" dirty="0"/>
          </a:p>
        </p:txBody>
      </p:sp>
      <p:sp>
        <p:nvSpPr>
          <p:cNvPr id="37" name="Text 28"/>
          <p:cNvSpPr txBox="1"/>
          <p:nvPr/>
        </p:nvSpPr>
        <p:spPr>
          <a:xfrm>
            <a:off x="5385816" y="5532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early warning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7671816" y="17830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71816" y="2148840"/>
          <a:ext cx="3968496" cy="3474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chatbots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Single-crop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Agri·Vision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6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A6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insights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5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F043C3ED-7452-DE1A-7BE4-3895C768B6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on the edge, smart in the cloud, private at home.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6213838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pic>
        <p:nvPicPr>
          <p:cNvPr id="9" name="Image 1" descr="/tmp/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5939518" cy="4434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036798" y="1737360"/>
            <a:ext cx="4603514" cy="841248"/>
          </a:xfrm>
          <a:prstGeom prst="roundRect">
            <a:avLst>
              <a:gd name="adj" fmla="val 10870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73958" y="1920240"/>
            <a:ext cx="475488" cy="475488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585" y="2043867"/>
            <a:ext cx="228234" cy="2282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4038" y="1810512"/>
            <a:ext cx="3689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AI / ML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7814038" y="2103120"/>
            <a:ext cx="36891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MobileNetV3 · Mixture-of-Experts · ONNX Runtime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036798" y="2638044"/>
            <a:ext cx="4603514" cy="841248"/>
          </a:xfrm>
          <a:prstGeom prst="roundRect">
            <a:avLst>
              <a:gd name="adj" fmla="val 10870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73958" y="2820924"/>
            <a:ext cx="475488" cy="475488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585" y="294455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814038" y="2711196"/>
            <a:ext cx="3689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7814038" y="3003804"/>
            <a:ext cx="36891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+ QLoRA · RAG (FAISS) · Gemini fallback · Ollama / vLLM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036798" y="3538728"/>
            <a:ext cx="4603514" cy="841248"/>
          </a:xfrm>
          <a:prstGeom prst="roundRect">
            <a:avLst>
              <a:gd name="adj" fmla="val 10870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73958" y="3721608"/>
            <a:ext cx="475488" cy="475488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585" y="3845235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814038" y="3611880"/>
            <a:ext cx="3689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&amp; language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7814038" y="3904488"/>
            <a:ext cx="36891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ASR (AI4Bharat) · TTS · bilingual UI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036798" y="4439412"/>
            <a:ext cx="4603514" cy="841248"/>
          </a:xfrm>
          <a:prstGeom prst="roundRect">
            <a:avLst>
              <a:gd name="adj" fmla="val 10870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173958" y="4622292"/>
            <a:ext cx="475488" cy="475488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7585" y="4745919"/>
            <a:ext cx="228234" cy="22823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814038" y="4512564"/>
            <a:ext cx="3689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&amp; APIs</a:t>
            </a:r>
            <a:endParaRPr lang="en-US" sz="1250" dirty="0"/>
          </a:p>
        </p:txBody>
      </p:sp>
      <p:sp>
        <p:nvSpPr>
          <p:cNvPr id="29" name="Text 21"/>
          <p:cNvSpPr txBox="1"/>
          <p:nvPr/>
        </p:nvSpPr>
        <p:spPr>
          <a:xfrm>
            <a:off x="7814038" y="4805172"/>
            <a:ext cx="36891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Tailwind · FastAPI · OTP login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036798" y="5340096"/>
            <a:ext cx="4603514" cy="841248"/>
          </a:xfrm>
          <a:prstGeom prst="roundRect">
            <a:avLst>
              <a:gd name="adj" fmla="val 10870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173958" y="5522976"/>
            <a:ext cx="475488" cy="475488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7585" y="5646603"/>
            <a:ext cx="228234" cy="22823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814038" y="5413248"/>
            <a:ext cx="3689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cloud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7814038" y="5705856"/>
            <a:ext cx="36891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 · FAISS · weather API · containers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CA6CF99-049F-4317-A87D-C3D9A2BCB0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diagnose a real farm.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C896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918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visit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3749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https://minimal-due-realize-glow.trycloudflare.com/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1874520"/>
            <a:ext cx="4690872" cy="694944"/>
          </a:xfrm>
          <a:prstGeom prst="roundRect">
            <a:avLst>
              <a:gd name="adj" fmla="val 13158"/>
            </a:avLst>
          </a:prstGeom>
          <a:solidFill>
            <a:srgbClr val="2B3A32"/>
          </a:solidFill>
          <a:ln w="9525">
            <a:solidFill>
              <a:srgbClr val="3C4F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4032" y="2002536"/>
            <a:ext cx="438912" cy="438912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14032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187452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49440" y="2715768"/>
            <a:ext cx="4690872" cy="694944"/>
          </a:xfrm>
          <a:prstGeom prst="roundRect">
            <a:avLst>
              <a:gd name="adj" fmla="val 13158"/>
            </a:avLst>
          </a:prstGeom>
          <a:solidFill>
            <a:srgbClr val="2B3A32"/>
          </a:solidFill>
          <a:ln w="9525">
            <a:solidFill>
              <a:srgbClr val="3C4F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14032" y="2843784"/>
            <a:ext cx="438912" cy="438912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14032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2715768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crop (offline)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949440" y="3557016"/>
            <a:ext cx="4690872" cy="694944"/>
          </a:xfrm>
          <a:prstGeom prst="roundRect">
            <a:avLst>
              <a:gd name="adj" fmla="val 13158"/>
            </a:avLst>
          </a:prstGeom>
          <a:solidFill>
            <a:srgbClr val="2B3A32"/>
          </a:solidFill>
          <a:ln w="9525">
            <a:solidFill>
              <a:srgbClr val="3C4F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14032" y="3685032"/>
            <a:ext cx="438912" cy="438912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14032" y="3685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355701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case (cloud AI)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949440" y="4398264"/>
            <a:ext cx="4690872" cy="694944"/>
          </a:xfrm>
          <a:prstGeom prst="roundRect">
            <a:avLst>
              <a:gd name="adj" fmla="val 13158"/>
            </a:avLst>
          </a:prstGeom>
          <a:solidFill>
            <a:srgbClr val="2B3A32"/>
          </a:solidFill>
          <a:ln w="9525">
            <a:solidFill>
              <a:srgbClr val="3C4F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14032" y="4526280"/>
            <a:ext cx="438912" cy="438912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14032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4398264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history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949440" y="5239512"/>
            <a:ext cx="4690872" cy="694944"/>
          </a:xfrm>
          <a:prstGeom prst="roundRect">
            <a:avLst>
              <a:gd name="adj" fmla="val 13158"/>
            </a:avLst>
          </a:prstGeom>
          <a:solidFill>
            <a:srgbClr val="2B3A32"/>
          </a:solidFill>
          <a:ln w="9525">
            <a:solidFill>
              <a:srgbClr val="3C4F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5367528"/>
            <a:ext cx="438912" cy="438912"/>
          </a:xfrm>
          <a:prstGeom prst="ellipse">
            <a:avLst/>
          </a:prstGeom>
          <a:solidFill>
            <a:srgbClr val="C8963E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14032" y="5367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0" y="5239512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outbreak watch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379573B-39EF-AABC-0B7B-5E5A8C2C4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9BC9479-5690-FDAD-BADF-B7040DF2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3456432"/>
            <a:ext cx="2048608" cy="2048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tested it like a product, not a demo. Measured, not claimed.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97–98%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accuracy (crops)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7373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7472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94.5%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diagnosis end-to-end (29 classes)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4290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1520" y="3611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89.5%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297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diagnosis end-to-end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91840" y="34290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F2A24"/>
          </a:solidFill>
          <a:ln w="12700">
            <a:solidFill>
              <a:srgbClr val="2F5D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74720" y="3611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→ 6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4297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lumpy-skin cases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1737360"/>
            <a:ext cx="5422392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graphicFrame>
        <p:nvGraphicFramePr>
          <p:cNvPr id="21" name="Chart 0"/>
          <p:cNvGraphicFramePr/>
          <p:nvPr/>
        </p:nvGraphicFramePr>
        <p:xfrm>
          <a:off x="6309360" y="1783080"/>
          <a:ext cx="523951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8"/>
          <p:cNvSpPr/>
          <p:nvPr/>
        </p:nvSpPr>
        <p:spPr>
          <a:xfrm>
            <a:off x="548640" y="507492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5138928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DATA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" y="5358384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5,433 crop images · 487 cattle images, never seen in training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367278" y="507492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504438" y="5138928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504438" y="5358384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sure → right 96.7% of the time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85916" y="507492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323076" y="5138928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TESTS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6323076" y="5358384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hit@3 = 1.0 · 120 automated tests passing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004554" y="507492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141714" y="5138928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141714" y="5358384"/>
            <a:ext cx="23614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Missed-disease counts tracked on every release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08076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is lab-style imagery; field validation is the next step. Qwen advisor evaluation in progress; RAG labels preliminary.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59DB67E-8C3A-7FA6-73E9-984FAF691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MODEL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for farmers. A business for partners.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219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in minutes, not days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523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679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livestock deaths via early warning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82696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3209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pesticide misuse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13048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3739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for low-literacy users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80160" y="4270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health record for every farm</a:t>
            </a:r>
            <a:endParaRPr lang="en-US" sz="1450" dirty="0"/>
          </a:p>
        </p:txBody>
      </p:sp>
      <p:sp>
        <p:nvSpPr>
          <p:cNvPr id="20" name="Text 12"/>
          <p:cNvSpPr txBox="1"/>
          <p:nvPr/>
        </p:nvSpPr>
        <p:spPr>
          <a:xfrm>
            <a:off x="6245352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6245352" y="201168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355080" y="213969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6355080" y="213969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571232" y="20116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agri &amp; animal-husbandry depts, KVKs: outbreak dashboards, extension at scale.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245352" y="27432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355080" y="28712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355080" y="28712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571232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Co-ops, FPOs, input firms, insurers: consented, aggregated insights.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245352" y="347472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355080" y="360273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355080" y="36027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7571232" y="3474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diagnosis; premium advisory and alerts.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245352" y="420624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55080" y="433425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C8963E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355080" y="433425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571232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checks on-device; cloud AI only for hard cases.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77240" y="5349240"/>
            <a:ext cx="640080" cy="64008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5515661"/>
            <a:ext cx="307238" cy="30723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600200" y="5166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Safety, privacy &amp; responsible AI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4480560" y="52120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stripped before any cloud call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6464808" y="52120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blocks dosages, verifies citations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8449056" y="52120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diseases escalated to a vet / agronomist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10433304" y="52120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shown; “Not enough evidence” over guessing</a:t>
            </a:r>
            <a:endParaRPr lang="en-US" sz="11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EE0CC7C-BA2F-E9D1-130D-862BE8B89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million farms, with MHTECHIN.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56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1305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081528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29260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FastAPI app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529584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337413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ONNX experts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38221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Qwen via Ollama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4425696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97280" y="427024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49-doc knowledge base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4873752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97280" y="471830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Web app</a:t>
            </a:r>
            <a:endParaRPr lang="en-US" sz="13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084" y="2011680"/>
            <a:ext cx="201168" cy="274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334256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3F7A50"/>
          </a:solidFill>
          <a:ln w="12700">
            <a:solidFill>
              <a:srgbClr val="3F7A5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08576" y="1856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08576" y="21305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with MHTECHIN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4334256" y="27889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08576" y="3081528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82896" y="29260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cloud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08576" y="3529584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882896" y="337413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GPU-autoscaled vLLM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608576" y="3977640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82896" y="38221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+ encryption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608576" y="4425696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882896" y="427024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pilot: KVKs / dairy co-op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608576" y="4873752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882896" y="471830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auth, rate limits</a:t>
            </a:r>
            <a:endParaRPr lang="en-US" sz="13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2011680"/>
            <a:ext cx="201168" cy="2743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8119872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394192" y="1856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8394192" y="21305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 farms</a:t>
            </a:r>
            <a:endParaRPr lang="en-US" sz="1900" dirty="0"/>
          </a:p>
        </p:txBody>
      </p:sp>
      <p:sp>
        <p:nvSpPr>
          <p:cNvPr id="41" name="Shape 36"/>
          <p:cNvSpPr/>
          <p:nvPr/>
        </p:nvSpPr>
        <p:spPr>
          <a:xfrm>
            <a:off x="8119872" y="27889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394192" y="3081528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668512" y="29260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offline app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8394192" y="3529584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668512" y="337413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IVR voice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8394192" y="3977640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668512" y="38221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 &amp; crops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8394192" y="4425696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668512" y="427024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CI/CD, drift monitoring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8394192" y="4873752"/>
            <a:ext cx="109728" cy="109728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668512" y="471830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 / ICAR-curated vector DB</a:t>
            </a:r>
            <a:endParaRPr lang="en-US" sz="1300" dirty="0"/>
          </a:p>
        </p:txBody>
      </p:sp>
      <p:sp>
        <p:nvSpPr>
          <p:cNvPr id="52" name="Shape 47"/>
          <p:cNvSpPr/>
          <p:nvPr/>
        </p:nvSpPr>
        <p:spPr>
          <a:xfrm>
            <a:off x="548640" y="5349240"/>
            <a:ext cx="5408676" cy="868680"/>
          </a:xfrm>
          <a:prstGeom prst="roundRect">
            <a:avLst>
              <a:gd name="adj" fmla="val 10526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777240" y="5422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BRING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777240" y="5687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AI and domain depth.</a:t>
            </a:r>
            <a:endParaRPr lang="en-US" sz="1500" dirty="0"/>
          </a:p>
        </p:txBody>
      </p:sp>
      <p:sp>
        <p:nvSpPr>
          <p:cNvPr id="55" name="Shape 50"/>
          <p:cNvSpPr/>
          <p:nvPr/>
        </p:nvSpPr>
        <p:spPr>
          <a:xfrm>
            <a:off x="6231636" y="5349240"/>
            <a:ext cx="5408676" cy="868680"/>
          </a:xfrm>
          <a:prstGeom prst="roundRect">
            <a:avLst>
              <a:gd name="adj" fmla="val 10526"/>
            </a:avLst>
          </a:prstGeom>
          <a:solidFill>
            <a:srgbClr val="EEF3EC"/>
          </a:solidFill>
          <a:ln w="9525">
            <a:solidFill>
              <a:srgbClr val="D9E2D6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460236" y="5422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MHTECHIN BRINGS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6460236" y="5687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Cloud, deployment and enterprise scale.</a:t>
            </a:r>
            <a:endParaRPr lang="en-US" sz="15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8E4872E5-C4D7-93CB-C99E-3E5652D34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32688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Agri·Vision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3474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MHTECHIN Innovation Challenge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177272" y="6400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778240" y="3474720"/>
            <a:ext cx="4572000" cy="4572000"/>
          </a:xfrm>
          <a:prstGeom prst="ellipse">
            <a:avLst/>
          </a:prstGeom>
          <a:solidFill>
            <a:srgbClr val="2F5D3A">
              <a:alpha val="40000"/>
            </a:srgbClr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farm. One app. Every farmer.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partner with us to pilot Agri·Vision on MHTECHIN’s cloud.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0390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37490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011680" y="374904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https://minimal-due-realize-glow.trycloudflare.com/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7083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31596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011680" y="431596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github.com/Sagnik120/agri-vision-platform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377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48828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2011680" y="488289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m25cse027@iitj.ac.in (Sagnik Chandra)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955280" y="12344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C8963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955280" y="12344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79552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BINARY BRAINS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955280" y="3703320"/>
            <a:ext cx="420624" cy="420624"/>
          </a:xfrm>
          <a:prstGeom prst="ellipse">
            <a:avLst/>
          </a:prstGeom>
          <a:solidFill>
            <a:srgbClr val="2F5D3A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95528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503920" y="37033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Sagnik Chandra  ·  Team Leader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7955280" y="4270248"/>
            <a:ext cx="420624" cy="420624"/>
          </a:xfrm>
          <a:prstGeom prst="ellipse">
            <a:avLst/>
          </a:prstGeom>
          <a:solidFill>
            <a:srgbClr val="2F5D3A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552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503920" y="42702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Shrusti Jain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955280" y="4837176"/>
            <a:ext cx="420624" cy="420624"/>
          </a:xfrm>
          <a:prstGeom prst="ellipse">
            <a:avLst/>
          </a:prstGeom>
          <a:solidFill>
            <a:srgbClr val="2F5D3A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95528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8503920" y="48371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Baidya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95528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end-to-end: data, models, cloud AI, app and evaluation.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/ धन्यवाद</a:t>
            </a:r>
            <a:endParaRPr lang="en-US" sz="2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C963A49-63A4-AF9D-BE61-4E15FC738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12" y="257086"/>
            <a:ext cx="501866" cy="50186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EEC90F6-3F2F-57A6-71B7-913631B9DE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3716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1089</Words>
  <Application>Microsoft Office PowerPoint</Application>
  <PresentationFormat>Widescreen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Agri·Vision Pitch</dc:title>
  <dc:subject>PptxGenJS Presentation</dc:subject>
  <dc:creator>PptxGenJS</dc:creator>
  <cp:lastModifiedBy>Shrusti Jain</cp:lastModifiedBy>
  <cp:revision>3</cp:revision>
  <dcterms:created xsi:type="dcterms:W3CDTF">2026-09-30T16:18:37Z</dcterms:created>
  <dcterms:modified xsi:type="dcterms:W3CDTF">2026-09-30T17:04:38Z</dcterms:modified>
</cp:coreProperties>
</file>